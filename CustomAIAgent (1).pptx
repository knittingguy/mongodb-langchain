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handoutMasterIdLst>
    <p:handoutMasterId r:id="rId17"/>
  </p:handoutMasterIdLst>
  <p:sldIdLst>
    <p:sldId id="256" r:id="rId2"/>
    <p:sldId id="257" r:id="rId3"/>
    <p:sldId id="268" r:id="rId4"/>
    <p:sldId id="275" r:id="rId5"/>
    <p:sldId id="265" r:id="rId6"/>
    <p:sldId id="277" r:id="rId7"/>
    <p:sldId id="273" r:id="rId8"/>
    <p:sldId id="261" r:id="rId9"/>
    <p:sldId id="274" r:id="rId10"/>
    <p:sldId id="278" r:id="rId11"/>
    <p:sldId id="279" r:id="rId12"/>
    <p:sldId id="276" r:id="rId13"/>
    <p:sldId id="264"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2C21AB6-B9ED-584A-A64E-4C7C26C07FA9}">
          <p14:sldIdLst>
            <p14:sldId id="256"/>
            <p14:sldId id="257"/>
            <p14:sldId id="268"/>
            <p14:sldId id="275"/>
            <p14:sldId id="265"/>
            <p14:sldId id="277"/>
            <p14:sldId id="273"/>
            <p14:sldId id="261"/>
            <p14:sldId id="274"/>
            <p14:sldId id="278"/>
            <p14:sldId id="279"/>
            <p14:sldId id="276"/>
            <p14:sldId id="264"/>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98" autoAdjust="0"/>
    <p:restoredTop sz="94660"/>
  </p:normalViewPr>
  <p:slideViewPr>
    <p:cSldViewPr snapToGrid="0">
      <p:cViewPr varScale="1">
        <p:scale>
          <a:sx n="111" d="100"/>
          <a:sy n="111" d="100"/>
        </p:scale>
        <p:origin x="2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EDB6A8-68DD-3537-6213-A441B6C878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CC07729-4A01-B10E-6010-110640C2CAB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6DDEA4-190E-4095-9456-293A439BF9D4}" type="datetimeFigureOut">
              <a:rPr lang="en-US" smtClean="0"/>
              <a:t>1/26/26</a:t>
            </a:fld>
            <a:endParaRPr lang="en-US"/>
          </a:p>
        </p:txBody>
      </p:sp>
      <p:sp>
        <p:nvSpPr>
          <p:cNvPr id="4" name="Footer Placeholder 3">
            <a:extLst>
              <a:ext uri="{FF2B5EF4-FFF2-40B4-BE49-F238E27FC236}">
                <a16:creationId xmlns:a16="http://schemas.microsoft.com/office/drawing/2014/main" id="{9981F525-4265-CAF2-C8AF-76FA0D07AD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38E894F-3473-FA2C-7A7D-9CC6A248DB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580143-5F7D-418D-BA77-441071448DAE}" type="slidenum">
              <a:rPr lang="en-US" smtClean="0"/>
              <a:t>‹#›</a:t>
            </a:fld>
            <a:endParaRPr lang="en-US"/>
          </a:p>
        </p:txBody>
      </p:sp>
    </p:spTree>
    <p:extLst>
      <p:ext uri="{BB962C8B-B14F-4D97-AF65-F5344CB8AC3E}">
        <p14:creationId xmlns:p14="http://schemas.microsoft.com/office/powerpoint/2010/main" val="13062380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D3A0AD-F7F8-4E22-8D44-7E72D8F4DC21}" type="datetimeFigureOut">
              <a:rPr lang="en-US" smtClean="0"/>
              <a:t>11/22/25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DB8199-D2EC-4256-A1CF-AE0073DA57EE}" type="slidenum">
              <a:rPr lang="en-US" smtClean="0"/>
              <a:t>‹#›</a:t>
            </a:fld>
            <a:endParaRPr lang="en-US"/>
          </a:p>
        </p:txBody>
      </p:sp>
    </p:spTree>
    <p:extLst>
      <p:ext uri="{BB962C8B-B14F-4D97-AF65-F5344CB8AC3E}">
        <p14:creationId xmlns:p14="http://schemas.microsoft.com/office/powerpoint/2010/main" val="105308405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C0C0-6246-6D64-1BCA-2CC007368D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83E821-2CB4-63D8-5F2B-61D8F18140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C4AABA-843B-C030-F497-BC25EA232644}"/>
              </a:ext>
            </a:extLst>
          </p:cNvPr>
          <p:cNvSpPr>
            <a:spLocks noGrp="1"/>
          </p:cNvSpPr>
          <p:nvPr>
            <p:ph type="dt" sz="half" idx="10"/>
          </p:nvPr>
        </p:nvSpPr>
        <p:spPr/>
        <p:txBody>
          <a:bodyPr/>
          <a:lstStyle/>
          <a:p>
            <a:fld id="{B4BC4C42-D1D2-48A6-888E-BB154087F9F6}" type="datetime1">
              <a:rPr lang="en-US" smtClean="0"/>
              <a:t>11/22/25</a:t>
            </a:fld>
            <a:endParaRPr lang="en-US"/>
          </a:p>
        </p:txBody>
      </p:sp>
      <p:sp>
        <p:nvSpPr>
          <p:cNvPr id="5" name="Footer Placeholder 4">
            <a:extLst>
              <a:ext uri="{FF2B5EF4-FFF2-40B4-BE49-F238E27FC236}">
                <a16:creationId xmlns:a16="http://schemas.microsoft.com/office/drawing/2014/main" id="{ECA74CE2-8C47-7561-36EB-D2AB5E93B2FB}"/>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1D7A5D3E-43A2-CA51-3190-55EBDA588C94}"/>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1438893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395C-729C-0E29-1E87-FD507C9673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4BB2F8-D2A3-0B7A-D1DC-8E7CFC308B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932ED-4DFB-79F9-B0E4-91851736F35A}"/>
              </a:ext>
            </a:extLst>
          </p:cNvPr>
          <p:cNvSpPr>
            <a:spLocks noGrp="1"/>
          </p:cNvSpPr>
          <p:nvPr>
            <p:ph type="dt" sz="half" idx="10"/>
          </p:nvPr>
        </p:nvSpPr>
        <p:spPr/>
        <p:txBody>
          <a:bodyPr/>
          <a:lstStyle/>
          <a:p>
            <a:fld id="{105BBFFB-78F7-45D0-B0F7-C9ABBFCC4691}" type="datetime1">
              <a:rPr lang="en-US" smtClean="0"/>
              <a:t>11/22/25</a:t>
            </a:fld>
            <a:endParaRPr lang="en-US"/>
          </a:p>
        </p:txBody>
      </p:sp>
      <p:sp>
        <p:nvSpPr>
          <p:cNvPr id="5" name="Footer Placeholder 4">
            <a:extLst>
              <a:ext uri="{FF2B5EF4-FFF2-40B4-BE49-F238E27FC236}">
                <a16:creationId xmlns:a16="http://schemas.microsoft.com/office/drawing/2014/main" id="{5E68C3B1-03BE-04C1-C089-130FECD0924B}"/>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7084B2D6-193B-FF8F-6422-89FC78529005}"/>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4243157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C8EE-7AEE-CCC8-FE4A-C7072A7596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A2AEBD-92C2-C82E-D5B7-F9329FFBE8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4640BE-4C2F-E7E5-23B8-92E966D5FAA4}"/>
              </a:ext>
            </a:extLst>
          </p:cNvPr>
          <p:cNvSpPr>
            <a:spLocks noGrp="1"/>
          </p:cNvSpPr>
          <p:nvPr>
            <p:ph type="dt" sz="half" idx="10"/>
          </p:nvPr>
        </p:nvSpPr>
        <p:spPr/>
        <p:txBody>
          <a:bodyPr/>
          <a:lstStyle/>
          <a:p>
            <a:fld id="{7277E951-9294-4411-ABD9-4F5B08EBC92B}" type="datetime1">
              <a:rPr lang="en-US" smtClean="0"/>
              <a:t>11/22/25</a:t>
            </a:fld>
            <a:endParaRPr lang="en-US"/>
          </a:p>
        </p:txBody>
      </p:sp>
      <p:sp>
        <p:nvSpPr>
          <p:cNvPr id="5" name="Footer Placeholder 4">
            <a:extLst>
              <a:ext uri="{FF2B5EF4-FFF2-40B4-BE49-F238E27FC236}">
                <a16:creationId xmlns:a16="http://schemas.microsoft.com/office/drawing/2014/main" id="{59EA6B0F-03B5-0A94-70B9-56D63FA6148F}"/>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8E3A9BF9-3D2B-04BF-6A86-6FDEC6087A0B}"/>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222953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1AB53-4074-02B7-91FE-D3BEDFDF5E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B8A6A9-D1D2-1409-612B-8DD65F6CE1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85B0A6-4FC4-FAA5-741C-3F23917DA7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810687-1A58-E358-4A07-8E078120DFB8}"/>
              </a:ext>
            </a:extLst>
          </p:cNvPr>
          <p:cNvSpPr>
            <a:spLocks noGrp="1"/>
          </p:cNvSpPr>
          <p:nvPr>
            <p:ph type="dt" sz="half" idx="10"/>
          </p:nvPr>
        </p:nvSpPr>
        <p:spPr/>
        <p:txBody>
          <a:bodyPr/>
          <a:lstStyle/>
          <a:p>
            <a:fld id="{E28634BB-C7C5-4027-9EC9-E3EB86FCAEF3}" type="datetime1">
              <a:rPr lang="en-US" smtClean="0"/>
              <a:t>11/22/25</a:t>
            </a:fld>
            <a:endParaRPr lang="en-US"/>
          </a:p>
        </p:txBody>
      </p:sp>
      <p:sp>
        <p:nvSpPr>
          <p:cNvPr id="6" name="Footer Placeholder 5">
            <a:extLst>
              <a:ext uri="{FF2B5EF4-FFF2-40B4-BE49-F238E27FC236}">
                <a16:creationId xmlns:a16="http://schemas.microsoft.com/office/drawing/2014/main" id="{D126CDF0-06B4-37E2-452E-73413A44A275}"/>
              </a:ext>
            </a:extLst>
          </p:cNvPr>
          <p:cNvSpPr>
            <a:spLocks noGrp="1"/>
          </p:cNvSpPr>
          <p:nvPr>
            <p:ph type="ftr" sz="quarter" idx="11"/>
          </p:nvPr>
        </p:nvSpPr>
        <p:spPr/>
        <p:txBody>
          <a:bodyPr/>
          <a:lstStyle/>
          <a:p>
            <a:r>
              <a:rPr lang="en-US"/>
              <a:t>CF Webtools      |      Omaha, NE</a:t>
            </a:r>
          </a:p>
        </p:txBody>
      </p:sp>
      <p:sp>
        <p:nvSpPr>
          <p:cNvPr id="7" name="Slide Number Placeholder 6">
            <a:extLst>
              <a:ext uri="{FF2B5EF4-FFF2-40B4-BE49-F238E27FC236}">
                <a16:creationId xmlns:a16="http://schemas.microsoft.com/office/drawing/2014/main" id="{C95F7D31-5A61-4052-0F04-7987429A8013}"/>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1253653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A61ED-DC38-5D6F-DE72-C9CF74AFB9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636B26-EBF1-28D5-5841-40E294E0E0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8E75C6-03F9-FF50-2299-EAB1AB1A5F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C06273-4127-0647-0BE1-946E43BCF6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B60AAD-D86E-2C62-AB4B-8492D15BBB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011DAB-A045-0074-C3F4-0DF267F91F19}"/>
              </a:ext>
            </a:extLst>
          </p:cNvPr>
          <p:cNvSpPr>
            <a:spLocks noGrp="1"/>
          </p:cNvSpPr>
          <p:nvPr>
            <p:ph type="dt" sz="half" idx="10"/>
          </p:nvPr>
        </p:nvSpPr>
        <p:spPr/>
        <p:txBody>
          <a:bodyPr/>
          <a:lstStyle/>
          <a:p>
            <a:fld id="{640DA9FB-1B58-4ED0-93BA-D955084D1D32}" type="datetime1">
              <a:rPr lang="en-US" smtClean="0"/>
              <a:t>11/22/25</a:t>
            </a:fld>
            <a:endParaRPr lang="en-US"/>
          </a:p>
        </p:txBody>
      </p:sp>
      <p:sp>
        <p:nvSpPr>
          <p:cNvPr id="8" name="Footer Placeholder 7">
            <a:extLst>
              <a:ext uri="{FF2B5EF4-FFF2-40B4-BE49-F238E27FC236}">
                <a16:creationId xmlns:a16="http://schemas.microsoft.com/office/drawing/2014/main" id="{6770C9EA-738C-BEF5-9B75-50B4EF4E26DC}"/>
              </a:ext>
            </a:extLst>
          </p:cNvPr>
          <p:cNvSpPr>
            <a:spLocks noGrp="1"/>
          </p:cNvSpPr>
          <p:nvPr>
            <p:ph type="ftr" sz="quarter" idx="11"/>
          </p:nvPr>
        </p:nvSpPr>
        <p:spPr/>
        <p:txBody>
          <a:bodyPr/>
          <a:lstStyle/>
          <a:p>
            <a:r>
              <a:rPr lang="en-US"/>
              <a:t>CF Webtools      |      Omaha, NE</a:t>
            </a:r>
          </a:p>
        </p:txBody>
      </p:sp>
      <p:sp>
        <p:nvSpPr>
          <p:cNvPr id="9" name="Slide Number Placeholder 8">
            <a:extLst>
              <a:ext uri="{FF2B5EF4-FFF2-40B4-BE49-F238E27FC236}">
                <a16:creationId xmlns:a16="http://schemas.microsoft.com/office/drawing/2014/main" id="{A539A737-33DC-31E4-CFB8-25205C638E95}"/>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776660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90CE6-F447-20F9-D06D-142B952FA9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BAF70E-F18D-A944-5D3C-6F5C413491BA}"/>
              </a:ext>
            </a:extLst>
          </p:cNvPr>
          <p:cNvSpPr>
            <a:spLocks noGrp="1"/>
          </p:cNvSpPr>
          <p:nvPr>
            <p:ph type="dt" sz="half" idx="10"/>
          </p:nvPr>
        </p:nvSpPr>
        <p:spPr/>
        <p:txBody>
          <a:bodyPr/>
          <a:lstStyle/>
          <a:p>
            <a:fld id="{5271C941-E01D-4E80-8E0E-12B6D345AD24}" type="datetime1">
              <a:rPr lang="en-US" smtClean="0"/>
              <a:t>11/22/25</a:t>
            </a:fld>
            <a:endParaRPr lang="en-US"/>
          </a:p>
        </p:txBody>
      </p:sp>
      <p:sp>
        <p:nvSpPr>
          <p:cNvPr id="4" name="Footer Placeholder 3">
            <a:extLst>
              <a:ext uri="{FF2B5EF4-FFF2-40B4-BE49-F238E27FC236}">
                <a16:creationId xmlns:a16="http://schemas.microsoft.com/office/drawing/2014/main" id="{7004D756-6E24-F502-FCBB-AC46965DD9E0}"/>
              </a:ext>
            </a:extLst>
          </p:cNvPr>
          <p:cNvSpPr>
            <a:spLocks noGrp="1"/>
          </p:cNvSpPr>
          <p:nvPr>
            <p:ph type="ftr" sz="quarter" idx="11"/>
          </p:nvPr>
        </p:nvSpPr>
        <p:spPr/>
        <p:txBody>
          <a:bodyPr/>
          <a:lstStyle/>
          <a:p>
            <a:r>
              <a:rPr lang="en-US"/>
              <a:t>CF Webtools      |      Omaha, NE</a:t>
            </a:r>
          </a:p>
        </p:txBody>
      </p:sp>
      <p:sp>
        <p:nvSpPr>
          <p:cNvPr id="5" name="Slide Number Placeholder 4">
            <a:extLst>
              <a:ext uri="{FF2B5EF4-FFF2-40B4-BE49-F238E27FC236}">
                <a16:creationId xmlns:a16="http://schemas.microsoft.com/office/drawing/2014/main" id="{6CEE0B11-88F3-1D9B-1440-0B994D5748F8}"/>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2850142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2F300-9028-D0B5-9D6E-40F436E44FC8}"/>
              </a:ext>
            </a:extLst>
          </p:cNvPr>
          <p:cNvSpPr>
            <a:spLocks noGrp="1"/>
          </p:cNvSpPr>
          <p:nvPr>
            <p:ph type="dt" sz="half" idx="10"/>
          </p:nvPr>
        </p:nvSpPr>
        <p:spPr/>
        <p:txBody>
          <a:bodyPr/>
          <a:lstStyle/>
          <a:p>
            <a:fld id="{4F0F3D3D-20C8-4D64-A483-2C4C8EBC1BD9}" type="datetime1">
              <a:rPr lang="en-US" smtClean="0"/>
              <a:t>11/22/25</a:t>
            </a:fld>
            <a:endParaRPr lang="en-US"/>
          </a:p>
        </p:txBody>
      </p:sp>
      <p:sp>
        <p:nvSpPr>
          <p:cNvPr id="3" name="Footer Placeholder 2">
            <a:extLst>
              <a:ext uri="{FF2B5EF4-FFF2-40B4-BE49-F238E27FC236}">
                <a16:creationId xmlns:a16="http://schemas.microsoft.com/office/drawing/2014/main" id="{B03ADB80-BF6D-EDD6-533F-B1F1A49A1368}"/>
              </a:ext>
            </a:extLst>
          </p:cNvPr>
          <p:cNvSpPr>
            <a:spLocks noGrp="1"/>
          </p:cNvSpPr>
          <p:nvPr>
            <p:ph type="ftr" sz="quarter" idx="11"/>
          </p:nvPr>
        </p:nvSpPr>
        <p:spPr/>
        <p:txBody>
          <a:bodyPr/>
          <a:lstStyle/>
          <a:p>
            <a:r>
              <a:rPr lang="en-US"/>
              <a:t>CF Webtools      |      Omaha, NE</a:t>
            </a:r>
          </a:p>
        </p:txBody>
      </p:sp>
      <p:sp>
        <p:nvSpPr>
          <p:cNvPr id="4" name="Slide Number Placeholder 3">
            <a:extLst>
              <a:ext uri="{FF2B5EF4-FFF2-40B4-BE49-F238E27FC236}">
                <a16:creationId xmlns:a16="http://schemas.microsoft.com/office/drawing/2014/main" id="{C1E0187D-D374-EE8F-3FD2-6D2BC8ACEC53}"/>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829536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6EB7B-EE35-695F-285E-F50BB62064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ADE1D6-63FC-5D2C-7BF0-4A89903FB9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7F851C-FFBB-B61C-8CE6-EF4EC724A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8D67A2-566A-EAAD-3DE0-F8A59929843F}"/>
              </a:ext>
            </a:extLst>
          </p:cNvPr>
          <p:cNvSpPr>
            <a:spLocks noGrp="1"/>
          </p:cNvSpPr>
          <p:nvPr>
            <p:ph type="dt" sz="half" idx="10"/>
          </p:nvPr>
        </p:nvSpPr>
        <p:spPr/>
        <p:txBody>
          <a:bodyPr/>
          <a:lstStyle/>
          <a:p>
            <a:fld id="{3F4FD0B4-F151-47BF-95A6-DA20B44AE473}" type="datetime1">
              <a:rPr lang="en-US" smtClean="0"/>
              <a:t>11/22/25</a:t>
            </a:fld>
            <a:endParaRPr lang="en-US"/>
          </a:p>
        </p:txBody>
      </p:sp>
      <p:sp>
        <p:nvSpPr>
          <p:cNvPr id="6" name="Footer Placeholder 5">
            <a:extLst>
              <a:ext uri="{FF2B5EF4-FFF2-40B4-BE49-F238E27FC236}">
                <a16:creationId xmlns:a16="http://schemas.microsoft.com/office/drawing/2014/main" id="{85B517B0-FE37-29D0-D57C-CB374A437BAD}"/>
              </a:ext>
            </a:extLst>
          </p:cNvPr>
          <p:cNvSpPr>
            <a:spLocks noGrp="1"/>
          </p:cNvSpPr>
          <p:nvPr>
            <p:ph type="ftr" sz="quarter" idx="11"/>
          </p:nvPr>
        </p:nvSpPr>
        <p:spPr/>
        <p:txBody>
          <a:bodyPr/>
          <a:lstStyle/>
          <a:p>
            <a:r>
              <a:rPr lang="en-US"/>
              <a:t>CF Webtools      |      Omaha, NE</a:t>
            </a:r>
          </a:p>
        </p:txBody>
      </p:sp>
      <p:sp>
        <p:nvSpPr>
          <p:cNvPr id="7" name="Slide Number Placeholder 6">
            <a:extLst>
              <a:ext uri="{FF2B5EF4-FFF2-40B4-BE49-F238E27FC236}">
                <a16:creationId xmlns:a16="http://schemas.microsoft.com/office/drawing/2014/main" id="{BF46C1EF-373E-E24F-CE58-802A48E570AD}"/>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419183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21CB3-50A2-F3D8-DC3A-089123505F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65DB66-7CDB-9F89-63F9-9F1C59CB0B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8FD708-3260-11CF-F4AB-828E058B3F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ABB084-CCBF-19DC-6F8D-9661B5D7C441}"/>
              </a:ext>
            </a:extLst>
          </p:cNvPr>
          <p:cNvSpPr>
            <a:spLocks noGrp="1"/>
          </p:cNvSpPr>
          <p:nvPr>
            <p:ph type="dt" sz="half" idx="10"/>
          </p:nvPr>
        </p:nvSpPr>
        <p:spPr/>
        <p:txBody>
          <a:bodyPr/>
          <a:lstStyle/>
          <a:p>
            <a:fld id="{4B55E73E-FC96-4445-9331-78F7215BD613}" type="datetime1">
              <a:rPr lang="en-US" smtClean="0"/>
              <a:t>11/22/25</a:t>
            </a:fld>
            <a:endParaRPr lang="en-US"/>
          </a:p>
        </p:txBody>
      </p:sp>
      <p:sp>
        <p:nvSpPr>
          <p:cNvPr id="6" name="Footer Placeholder 5">
            <a:extLst>
              <a:ext uri="{FF2B5EF4-FFF2-40B4-BE49-F238E27FC236}">
                <a16:creationId xmlns:a16="http://schemas.microsoft.com/office/drawing/2014/main" id="{327F03DA-8D84-D8AA-5B4F-676CFC0B0824}"/>
              </a:ext>
            </a:extLst>
          </p:cNvPr>
          <p:cNvSpPr>
            <a:spLocks noGrp="1"/>
          </p:cNvSpPr>
          <p:nvPr>
            <p:ph type="ftr" sz="quarter" idx="11"/>
          </p:nvPr>
        </p:nvSpPr>
        <p:spPr/>
        <p:txBody>
          <a:bodyPr/>
          <a:lstStyle/>
          <a:p>
            <a:r>
              <a:rPr lang="en-US"/>
              <a:t>CF Webtools      |      Omaha, NE</a:t>
            </a:r>
          </a:p>
        </p:txBody>
      </p:sp>
      <p:sp>
        <p:nvSpPr>
          <p:cNvPr id="7" name="Slide Number Placeholder 6">
            <a:extLst>
              <a:ext uri="{FF2B5EF4-FFF2-40B4-BE49-F238E27FC236}">
                <a16:creationId xmlns:a16="http://schemas.microsoft.com/office/drawing/2014/main" id="{3F760540-8CF5-3FB7-B9D8-E595B4AAED63}"/>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040386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55C9D-3CFF-AB0B-9F2A-3093748855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2EF016-E755-5A48-992A-7AA3600F42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4EB576-D1EE-8312-F17A-01BCBAB7C61B}"/>
              </a:ext>
            </a:extLst>
          </p:cNvPr>
          <p:cNvSpPr>
            <a:spLocks noGrp="1"/>
          </p:cNvSpPr>
          <p:nvPr>
            <p:ph type="dt" sz="half" idx="10"/>
          </p:nvPr>
        </p:nvSpPr>
        <p:spPr/>
        <p:txBody>
          <a:bodyPr/>
          <a:lstStyle/>
          <a:p>
            <a:fld id="{18316AE6-2325-49DB-B148-26330E2FD277}" type="datetime1">
              <a:rPr lang="en-US" smtClean="0"/>
              <a:t>11/22/25</a:t>
            </a:fld>
            <a:endParaRPr lang="en-US"/>
          </a:p>
        </p:txBody>
      </p:sp>
      <p:sp>
        <p:nvSpPr>
          <p:cNvPr id="5" name="Footer Placeholder 4">
            <a:extLst>
              <a:ext uri="{FF2B5EF4-FFF2-40B4-BE49-F238E27FC236}">
                <a16:creationId xmlns:a16="http://schemas.microsoft.com/office/drawing/2014/main" id="{0C25DB8F-7370-4045-899A-DC1D2143F7E7}"/>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F728A12C-661D-D7A8-FB3D-CA87473B2D4A}"/>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2365034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A5F5FF-3262-1ABA-4A98-DB9F226C8C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69D40F-85A2-086A-2F03-4EF8BA78EB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8DF0CB-33F7-4638-6E48-7F20C5008445}"/>
              </a:ext>
            </a:extLst>
          </p:cNvPr>
          <p:cNvSpPr>
            <a:spLocks noGrp="1"/>
          </p:cNvSpPr>
          <p:nvPr>
            <p:ph type="dt" sz="half" idx="10"/>
          </p:nvPr>
        </p:nvSpPr>
        <p:spPr/>
        <p:txBody>
          <a:bodyPr/>
          <a:lstStyle/>
          <a:p>
            <a:fld id="{6ECF08CB-49A1-43D4-9E9B-0DBBFBE54C08}" type="datetime1">
              <a:rPr lang="en-US" smtClean="0"/>
              <a:t>11/22/25</a:t>
            </a:fld>
            <a:endParaRPr lang="en-US"/>
          </a:p>
        </p:txBody>
      </p:sp>
      <p:sp>
        <p:nvSpPr>
          <p:cNvPr id="5" name="Footer Placeholder 4">
            <a:extLst>
              <a:ext uri="{FF2B5EF4-FFF2-40B4-BE49-F238E27FC236}">
                <a16:creationId xmlns:a16="http://schemas.microsoft.com/office/drawing/2014/main" id="{DFE56582-C86D-F1A9-49A7-3C3CBE9C50A1}"/>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DB0C0C90-42DB-0911-E6D8-90472AFEC356}"/>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2641298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F08592-1AEE-6102-4B7D-78D8E97DE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527012-021F-42B1-5D79-285BACDC1C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F4194A-C04D-59D0-028C-742DED7BC4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644D5E-C3C0-4BE1-A478-33544A5F7BFF}" type="datetime1">
              <a:rPr lang="en-US" smtClean="0"/>
              <a:t>11/22/25</a:t>
            </a:fld>
            <a:endParaRPr lang="en-US"/>
          </a:p>
        </p:txBody>
      </p:sp>
      <p:sp>
        <p:nvSpPr>
          <p:cNvPr id="5" name="Footer Placeholder 4">
            <a:extLst>
              <a:ext uri="{FF2B5EF4-FFF2-40B4-BE49-F238E27FC236}">
                <a16:creationId xmlns:a16="http://schemas.microsoft.com/office/drawing/2014/main" id="{562F8422-54E3-2188-9D93-98178126A9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CF Webtools      |      Omaha, NE</a:t>
            </a:r>
          </a:p>
        </p:txBody>
      </p:sp>
      <p:sp>
        <p:nvSpPr>
          <p:cNvPr id="6" name="Slide Number Placeholder 5">
            <a:extLst>
              <a:ext uri="{FF2B5EF4-FFF2-40B4-BE49-F238E27FC236}">
                <a16:creationId xmlns:a16="http://schemas.microsoft.com/office/drawing/2014/main" id="{5068A0B4-F7B8-8514-4B1C-E4090F3DE3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4A60B4-844F-477C-B38E-A2977EEFAE90}" type="slidenum">
              <a:rPr lang="en-US" smtClean="0"/>
              <a:t>‹#›</a:t>
            </a:fld>
            <a:endParaRPr lang="en-US"/>
          </a:p>
        </p:txBody>
      </p:sp>
    </p:spTree>
    <p:extLst>
      <p:ext uri="{BB962C8B-B14F-4D97-AF65-F5344CB8AC3E}">
        <p14:creationId xmlns:p14="http://schemas.microsoft.com/office/powerpoint/2010/main" val="2367567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youtube.com/@geektalk2004"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github.com/knittingguy/mongoDB-langchain" TargetMode="External"/><Relationship Id="rId5" Type="http://schemas.openxmlformats.org/officeDocument/2006/relationships/hyperlink" Target="https://github.com/knittingguy/aiagent_cf" TargetMode="External"/><Relationship Id="rId4" Type="http://schemas.openxmlformats.org/officeDocument/2006/relationships/hyperlink" Target="https://github.com/knittingguy"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docs.langchain.com/oss/javascript/integrations/vectorstores"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hyperlink" Target="https://docs.langchain.com/oss/javascript/integrations/vectorstores#mongodb" TargetMode="External"/><Relationship Id="rId3" Type="http://schemas.openxmlformats.org/officeDocument/2006/relationships/image" Target="../media/image2.png"/><Relationship Id="rId7" Type="http://schemas.openxmlformats.org/officeDocument/2006/relationships/hyperlink" Target="https://langchain-ai.github.io/langgraphjs/"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mongodb.com/" TargetMode="External"/><Relationship Id="rId5" Type="http://schemas.openxmlformats.org/officeDocument/2006/relationships/hyperlink" Target="https://www.langchain.com/" TargetMode="External"/><Relationship Id="rId4" Type="http://schemas.openxmlformats.org/officeDocument/2006/relationships/hyperlink" Target="https://docs.langchain.com/langgraph-platform/quick-start-studio"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background with hexagons&#10;&#10;Description automatically generated">
            <a:extLst>
              <a:ext uri="{FF2B5EF4-FFF2-40B4-BE49-F238E27FC236}">
                <a16:creationId xmlns:a16="http://schemas.microsoft.com/office/drawing/2014/main" id="{57167341-08E4-3FAE-09CA-8A71930D4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descr="A logo with a black background&#10;&#10;Description automatically generated">
            <a:extLst>
              <a:ext uri="{FF2B5EF4-FFF2-40B4-BE49-F238E27FC236}">
                <a16:creationId xmlns:a16="http://schemas.microsoft.com/office/drawing/2014/main" id="{A2D35E13-70EC-569F-C463-6419605AD9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09360"/>
            <a:ext cx="4949070" cy="3093169"/>
          </a:xfrm>
          <a:prstGeom prst="rect">
            <a:avLst/>
          </a:prstGeom>
        </p:spPr>
      </p:pic>
      <p:sp>
        <p:nvSpPr>
          <p:cNvPr id="2" name="TextBox 1">
            <a:extLst>
              <a:ext uri="{FF2B5EF4-FFF2-40B4-BE49-F238E27FC236}">
                <a16:creationId xmlns:a16="http://schemas.microsoft.com/office/drawing/2014/main" id="{AF1FBD9A-BC88-48B5-137F-AC54A2E234E0}"/>
              </a:ext>
            </a:extLst>
          </p:cNvPr>
          <p:cNvSpPr txBox="1"/>
          <p:nvPr/>
        </p:nvSpPr>
        <p:spPr>
          <a:xfrm>
            <a:off x="1542473" y="2844800"/>
            <a:ext cx="9596582" cy="1446550"/>
          </a:xfrm>
          <a:prstGeom prst="rect">
            <a:avLst/>
          </a:prstGeom>
          <a:noFill/>
        </p:spPr>
        <p:txBody>
          <a:bodyPr wrap="square" rtlCol="0">
            <a:spAutoFit/>
          </a:bodyPr>
          <a:lstStyle/>
          <a:p>
            <a:pPr algn="l"/>
            <a:r>
              <a:rPr lang="en-US" sz="4400" b="0" i="0" strike="noStrike" dirty="0">
                <a:solidFill>
                  <a:srgbClr val="444444"/>
                </a:solidFill>
                <a:effectLst/>
                <a:latin typeface="adobe-clean"/>
              </a:rPr>
              <a:t>Building a Custom AI Agent and How ColdFusion </a:t>
            </a:r>
            <a:r>
              <a:rPr lang="en-US" sz="4400" dirty="0">
                <a:solidFill>
                  <a:srgbClr val="444444"/>
                </a:solidFill>
                <a:latin typeface="adobe-clean"/>
              </a:rPr>
              <a:t>Can Interact With It</a:t>
            </a:r>
            <a:endParaRPr lang="en-US" sz="4400" b="0" i="0" strike="noStrike" dirty="0">
              <a:solidFill>
                <a:srgbClr val="444444"/>
              </a:solidFill>
              <a:effectLst/>
              <a:latin typeface="adobe-clean"/>
            </a:endParaRPr>
          </a:p>
        </p:txBody>
      </p:sp>
      <p:sp>
        <p:nvSpPr>
          <p:cNvPr id="4" name="TextBox 3">
            <a:extLst>
              <a:ext uri="{FF2B5EF4-FFF2-40B4-BE49-F238E27FC236}">
                <a16:creationId xmlns:a16="http://schemas.microsoft.com/office/drawing/2014/main" id="{F702E54B-7D40-F5E7-567B-A3A643F3450B}"/>
              </a:ext>
            </a:extLst>
          </p:cNvPr>
          <p:cNvSpPr txBox="1"/>
          <p:nvPr/>
        </p:nvSpPr>
        <p:spPr>
          <a:xfrm>
            <a:off x="3196294" y="5231035"/>
            <a:ext cx="9596582" cy="523220"/>
          </a:xfrm>
          <a:prstGeom prst="rect">
            <a:avLst/>
          </a:prstGeom>
          <a:noFill/>
        </p:spPr>
        <p:txBody>
          <a:bodyPr wrap="square" rtlCol="0">
            <a:spAutoFit/>
          </a:bodyPr>
          <a:lstStyle/>
          <a:p>
            <a:pPr algn="ctr"/>
            <a:r>
              <a:rPr lang="en-US" sz="2800" dirty="0">
                <a:solidFill>
                  <a:srgbClr val="002060"/>
                </a:solidFill>
                <a:latin typeface="Roboto" panose="02000000000000000000" pitchFamily="2" charset="0"/>
                <a:ea typeface="Roboto" panose="02000000000000000000" pitchFamily="2" charset="0"/>
              </a:rPr>
              <a:t>Presented by: Monte Chan</a:t>
            </a:r>
          </a:p>
        </p:txBody>
      </p:sp>
    </p:spTree>
    <p:extLst>
      <p:ext uri="{BB962C8B-B14F-4D97-AF65-F5344CB8AC3E}">
        <p14:creationId xmlns:p14="http://schemas.microsoft.com/office/powerpoint/2010/main" val="435456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5715E08-146D-0759-2720-E84D70786BC1}"/>
              </a:ext>
            </a:extLst>
          </p:cNvPr>
          <p:cNvPicPr>
            <a:picLocks noChangeAspect="1"/>
          </p:cNvPicPr>
          <p:nvPr/>
        </p:nvPicPr>
        <p:blipFill>
          <a:blip r:embed="rId2"/>
          <a:stretch>
            <a:fillRect/>
          </a:stretch>
        </p:blipFill>
        <p:spPr>
          <a:xfrm>
            <a:off x="-11151" y="0"/>
            <a:ext cx="12188952" cy="6858000"/>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BB1C0603-8047-1EA8-656C-93CC9FF56BB4}"/>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6DAD8027-1835-30F1-2138-FEEFB4294F47}"/>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82989756-ED00-35D0-B232-FF0105CF9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sp>
        <p:nvSpPr>
          <p:cNvPr id="4" name="TextBox 3">
            <a:extLst>
              <a:ext uri="{FF2B5EF4-FFF2-40B4-BE49-F238E27FC236}">
                <a16:creationId xmlns:a16="http://schemas.microsoft.com/office/drawing/2014/main" id="{9E3EEE10-82D5-87E4-5878-1CDBB4D30E23}"/>
              </a:ext>
            </a:extLst>
          </p:cNvPr>
          <p:cNvSpPr txBox="1"/>
          <p:nvPr/>
        </p:nvSpPr>
        <p:spPr>
          <a:xfrm>
            <a:off x="566057" y="572220"/>
            <a:ext cx="3302558" cy="523220"/>
          </a:xfrm>
          <a:prstGeom prst="rect">
            <a:avLst/>
          </a:prstGeom>
          <a:noFill/>
        </p:spPr>
        <p:txBody>
          <a:bodyPr wrap="square" rtlCol="0">
            <a:spAutoFit/>
          </a:bodyPr>
          <a:lstStyle/>
          <a:p>
            <a:r>
              <a:rPr lang="en-US" sz="2800" dirty="0"/>
              <a:t>Who is Monte Chan?</a:t>
            </a:r>
          </a:p>
        </p:txBody>
      </p:sp>
      <p:sp>
        <p:nvSpPr>
          <p:cNvPr id="5" name="TextBox 4">
            <a:extLst>
              <a:ext uri="{FF2B5EF4-FFF2-40B4-BE49-F238E27FC236}">
                <a16:creationId xmlns:a16="http://schemas.microsoft.com/office/drawing/2014/main" id="{EF36D861-DF68-5C6D-8119-18A5814B2A68}"/>
              </a:ext>
            </a:extLst>
          </p:cNvPr>
          <p:cNvSpPr txBox="1"/>
          <p:nvPr/>
        </p:nvSpPr>
        <p:spPr>
          <a:xfrm>
            <a:off x="675249" y="1567027"/>
            <a:ext cx="11015003"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t>Senior ColdFusion Developer at CF Webtools</a:t>
            </a:r>
          </a:p>
          <a:p>
            <a:pPr marL="285750" indent="-285750">
              <a:buFont typeface="Arial" panose="020B0604020202020204" pitchFamily="34" charset="0"/>
              <a:buChar char="•"/>
            </a:pPr>
            <a:r>
              <a:rPr lang="en-US" sz="2400" dirty="0"/>
              <a:t>Has used ColdFusion since version 4.5 back in 1999</a:t>
            </a:r>
          </a:p>
          <a:p>
            <a:pPr marL="285750" indent="-285750">
              <a:buFont typeface="Arial" panose="020B0604020202020204" pitchFamily="34" charset="0"/>
              <a:buChar char="•"/>
            </a:pPr>
            <a:r>
              <a:rPr lang="en-US" sz="2400" dirty="0"/>
              <a:t>Has developed web applications which were used in different industries (ex. Health insurance, education, </a:t>
            </a:r>
            <a:r>
              <a:rPr lang="en-US" sz="2400" dirty="0" err="1"/>
              <a:t>finTech</a:t>
            </a:r>
            <a:r>
              <a:rPr lang="en-US" sz="2400" dirty="0"/>
              <a:t>, e-commerce…etc.) </a:t>
            </a:r>
          </a:p>
          <a:p>
            <a:pPr marL="285750" indent="-285750">
              <a:buFont typeface="Arial" panose="020B0604020202020204" pitchFamily="34" charset="0"/>
              <a:buChar char="•"/>
            </a:pPr>
            <a:r>
              <a:rPr lang="en-US" sz="2400" dirty="0"/>
              <a:t>Was one of the co-managers of Alamo ColdFusion User Group</a:t>
            </a:r>
          </a:p>
          <a:p>
            <a:pPr marL="285750" indent="-285750">
              <a:buFont typeface="Arial" panose="020B0604020202020204" pitchFamily="34" charset="0"/>
              <a:buChar char="•"/>
            </a:pPr>
            <a:r>
              <a:rPr lang="en-US" sz="2400" dirty="0"/>
              <a:t>Has a </a:t>
            </a:r>
            <a:r>
              <a:rPr lang="en-US" sz="2400" dirty="0" err="1"/>
              <a:t>youTube</a:t>
            </a:r>
            <a:r>
              <a:rPr lang="en-US" sz="2400" dirty="0"/>
              <a:t> channel, Geek Talk. </a:t>
            </a:r>
            <a:r>
              <a:rPr lang="en-US" sz="2400" dirty="0">
                <a:hlinkClick r:id="rId4"/>
              </a:rPr>
              <a:t>https://www.youtube.com/@geektalk2004</a:t>
            </a:r>
            <a:endParaRPr lang="en-US" sz="2400" dirty="0"/>
          </a:p>
          <a:p>
            <a:pPr marL="285750" indent="-285750">
              <a:buFont typeface="Arial" panose="020B0604020202020204" pitchFamily="34" charset="0"/>
              <a:buChar char="•"/>
            </a:pPr>
            <a:r>
              <a:rPr lang="en-US" sz="2400" dirty="0"/>
              <a:t>On different social media platforms but mostly on Facebook.  You can find me on Facebook at https://</a:t>
            </a:r>
            <a:r>
              <a:rPr lang="en-US" sz="2400" dirty="0" err="1"/>
              <a:t>www.facebook.com</a:t>
            </a:r>
            <a:r>
              <a:rPr lang="en-US" sz="2400" dirty="0"/>
              <a:t>/</a:t>
            </a:r>
            <a:r>
              <a:rPr lang="en-US" sz="2400" dirty="0" err="1"/>
              <a:t>monte.chan</a:t>
            </a:r>
            <a:r>
              <a:rPr lang="en-US" sz="2400" dirty="0"/>
              <a:t>/</a:t>
            </a:r>
          </a:p>
          <a:p>
            <a:pPr marL="285750" indent="-285750">
              <a:buFont typeface="Arial" panose="020B0604020202020204" pitchFamily="34" charset="0"/>
              <a:buChar char="•"/>
            </a:pPr>
            <a:r>
              <a:rPr lang="en-US" sz="2400" dirty="0"/>
              <a:t>You can email me at </a:t>
            </a:r>
            <a:r>
              <a:rPr lang="en-US" sz="2400" dirty="0" err="1"/>
              <a:t>monte@monteandjanicechan.com</a:t>
            </a:r>
            <a:r>
              <a:rPr lang="en-US" sz="2400" dirty="0"/>
              <a:t> but you may get a quicker response if you send me a message in Facebook Messenger.</a:t>
            </a:r>
          </a:p>
        </p:txBody>
      </p:sp>
    </p:spTree>
    <p:extLst>
      <p:ext uri="{BB962C8B-B14F-4D97-AF65-F5344CB8AC3E}">
        <p14:creationId xmlns:p14="http://schemas.microsoft.com/office/powerpoint/2010/main" val="2885452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5715E08-146D-0759-2720-E84D70786BC1}"/>
              </a:ext>
            </a:extLst>
          </p:cNvPr>
          <p:cNvPicPr>
            <a:picLocks noChangeAspect="1"/>
          </p:cNvPicPr>
          <p:nvPr/>
        </p:nvPicPr>
        <p:blipFill>
          <a:blip r:embed="rId2"/>
          <a:stretch>
            <a:fillRect/>
          </a:stretch>
        </p:blipFill>
        <p:spPr>
          <a:xfrm>
            <a:off x="-11151" y="0"/>
            <a:ext cx="12188952" cy="6858000"/>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BB1C0603-8047-1EA8-656C-93CC9FF56BB4}"/>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6DAD8027-1835-30F1-2138-FEEFB4294F47}"/>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82989756-ED00-35D0-B232-FF0105CF9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sp>
        <p:nvSpPr>
          <p:cNvPr id="4" name="TextBox 3">
            <a:extLst>
              <a:ext uri="{FF2B5EF4-FFF2-40B4-BE49-F238E27FC236}">
                <a16:creationId xmlns:a16="http://schemas.microsoft.com/office/drawing/2014/main" id="{9E3EEE10-82D5-87E4-5878-1CDBB4D30E23}"/>
              </a:ext>
            </a:extLst>
          </p:cNvPr>
          <p:cNvSpPr txBox="1"/>
          <p:nvPr/>
        </p:nvSpPr>
        <p:spPr>
          <a:xfrm>
            <a:off x="566057" y="572220"/>
            <a:ext cx="3302558" cy="523220"/>
          </a:xfrm>
          <a:prstGeom prst="rect">
            <a:avLst/>
          </a:prstGeom>
          <a:noFill/>
        </p:spPr>
        <p:txBody>
          <a:bodyPr wrap="square" rtlCol="0">
            <a:spAutoFit/>
          </a:bodyPr>
          <a:lstStyle/>
          <a:p>
            <a:r>
              <a:rPr lang="en-US" sz="2800" dirty="0"/>
              <a:t>Before we begin…</a:t>
            </a:r>
          </a:p>
        </p:txBody>
      </p:sp>
      <p:sp>
        <p:nvSpPr>
          <p:cNvPr id="5" name="TextBox 4">
            <a:extLst>
              <a:ext uri="{FF2B5EF4-FFF2-40B4-BE49-F238E27FC236}">
                <a16:creationId xmlns:a16="http://schemas.microsoft.com/office/drawing/2014/main" id="{EF36D861-DF68-5C6D-8119-18A5814B2A68}"/>
              </a:ext>
            </a:extLst>
          </p:cNvPr>
          <p:cNvSpPr txBox="1"/>
          <p:nvPr/>
        </p:nvSpPr>
        <p:spPr>
          <a:xfrm>
            <a:off x="675249" y="1567027"/>
            <a:ext cx="11015003"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A version of my presentation will be made available in my </a:t>
            </a:r>
            <a:r>
              <a:rPr lang="en-US" sz="2400" dirty="0" err="1"/>
              <a:t>youTube</a:t>
            </a:r>
            <a:r>
              <a:rPr lang="en-US" sz="2400" dirty="0"/>
              <a:t> channel.  There will be more details covered in the </a:t>
            </a:r>
            <a:r>
              <a:rPr lang="en-US" sz="2400" dirty="0" err="1"/>
              <a:t>youTube</a:t>
            </a:r>
            <a:r>
              <a:rPr lang="en-US" sz="2400" dirty="0"/>
              <a:t> version.</a:t>
            </a:r>
          </a:p>
          <a:p>
            <a:pPr marL="285750" indent="-285750">
              <a:buFont typeface="Arial" panose="020B0604020202020204" pitchFamily="34" charset="0"/>
              <a:buChar char="•"/>
            </a:pPr>
            <a:r>
              <a:rPr lang="en-US" sz="2400" dirty="0"/>
              <a:t>The presentation slides will be uploaded to my </a:t>
            </a:r>
            <a:r>
              <a:rPr lang="en-US" sz="2400" dirty="0" err="1"/>
              <a:t>Github</a:t>
            </a:r>
            <a:r>
              <a:rPr lang="en-US" sz="2400" dirty="0"/>
              <a:t> account at </a:t>
            </a:r>
            <a:r>
              <a:rPr lang="en-US" sz="2400" dirty="0">
                <a:hlinkClick r:id="rId4"/>
              </a:rPr>
              <a:t>https://github.com/knittingguy</a:t>
            </a:r>
            <a:endParaRPr lang="en-US" sz="2400" dirty="0"/>
          </a:p>
          <a:p>
            <a:pPr marL="285750" indent="-285750">
              <a:buFont typeface="Arial" panose="020B0604020202020204" pitchFamily="34" charset="0"/>
              <a:buChar char="•"/>
            </a:pPr>
            <a:r>
              <a:rPr lang="en-US" sz="2400" dirty="0"/>
              <a:t>CF Codes: </a:t>
            </a:r>
            <a:r>
              <a:rPr lang="en-US" sz="2400" dirty="0">
                <a:hlinkClick r:id="rId5"/>
              </a:rPr>
              <a:t>https://github.com/knittingguy/aiagent_cf</a:t>
            </a:r>
            <a:endParaRPr lang="en-US" sz="2400" dirty="0"/>
          </a:p>
          <a:p>
            <a:pPr marL="285750" indent="-285750">
              <a:buFont typeface="Arial" panose="020B0604020202020204" pitchFamily="34" charset="0"/>
              <a:buChar char="•"/>
            </a:pPr>
            <a:r>
              <a:rPr lang="en-US" sz="2400" dirty="0"/>
              <a:t>JavaScript/TypeScript Codes: </a:t>
            </a:r>
            <a:r>
              <a:rPr lang="en-US" sz="2400" dirty="0">
                <a:hlinkClick r:id="rId6"/>
              </a:rPr>
              <a:t>https://github.com/knittingguy/mongoDB-langchain</a:t>
            </a:r>
            <a:endParaRPr lang="en-US" sz="2400" dirty="0"/>
          </a:p>
          <a:p>
            <a:pPr marL="285750" indent="-285750">
              <a:buFont typeface="Arial" panose="020B0604020202020204" pitchFamily="34" charset="0"/>
              <a:buChar char="•"/>
            </a:pPr>
            <a:endParaRPr lang="en-US" sz="2400" dirty="0"/>
          </a:p>
          <a:p>
            <a:endParaRPr lang="en-US" sz="2400" dirty="0"/>
          </a:p>
        </p:txBody>
      </p:sp>
    </p:spTree>
    <p:extLst>
      <p:ext uri="{BB962C8B-B14F-4D97-AF65-F5344CB8AC3E}">
        <p14:creationId xmlns:p14="http://schemas.microsoft.com/office/powerpoint/2010/main" val="3212058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30EB7F-C55B-6176-476A-12CF24B64E17}"/>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56A4C503-754C-F836-01FF-8441F9802EC0}"/>
              </a:ext>
            </a:extLst>
          </p:cNvPr>
          <p:cNvPicPr>
            <a:picLocks noChangeAspect="1"/>
          </p:cNvPicPr>
          <p:nvPr/>
        </p:nvPicPr>
        <p:blipFill>
          <a:blip r:embed="rId2"/>
          <a:stretch>
            <a:fillRect/>
          </a:stretch>
        </p:blipFill>
        <p:spPr>
          <a:xfrm>
            <a:off x="0" y="0"/>
            <a:ext cx="12188952" cy="6864271"/>
          </a:xfrm>
          <a:prstGeom prst="rect">
            <a:avLst/>
          </a:prstGeom>
        </p:spPr>
      </p:pic>
      <p:sp>
        <p:nvSpPr>
          <p:cNvPr id="10" name="Rectangle 9">
            <a:extLst>
              <a:ext uri="{FF2B5EF4-FFF2-40B4-BE49-F238E27FC236}">
                <a16:creationId xmlns:a16="http://schemas.microsoft.com/office/drawing/2014/main" id="{CFE8CFDD-9079-B347-F4CB-9B6B03484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33A906F5-05BA-178E-74E3-33673F75239E}"/>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B1EFF4A9-A25C-8066-1704-6A9C62D39910}"/>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8F09D8FD-153F-4E34-56BE-FB72F88498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sp>
        <p:nvSpPr>
          <p:cNvPr id="5" name="TextBox 4">
            <a:extLst>
              <a:ext uri="{FF2B5EF4-FFF2-40B4-BE49-F238E27FC236}">
                <a16:creationId xmlns:a16="http://schemas.microsoft.com/office/drawing/2014/main" id="{9566E780-707B-DF0F-6D9C-7CBE09010419}"/>
              </a:ext>
            </a:extLst>
          </p:cNvPr>
          <p:cNvSpPr txBox="1"/>
          <p:nvPr/>
        </p:nvSpPr>
        <p:spPr>
          <a:xfrm>
            <a:off x="506437" y="572220"/>
            <a:ext cx="9924442" cy="5909310"/>
          </a:xfrm>
          <a:prstGeom prst="rect">
            <a:avLst/>
          </a:prstGeom>
          <a:noFill/>
        </p:spPr>
        <p:txBody>
          <a:bodyPr wrap="square" rtlCol="0">
            <a:spAutoFit/>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Most AI related codes are done in Python because the Machine Learning and the AI technology started in the Python world.</a:t>
            </a:r>
          </a:p>
          <a:p>
            <a:pPr marL="285750" indent="-285750">
              <a:buFont typeface="Arial" panose="020B0604020202020204" pitchFamily="34" charset="0"/>
              <a:buChar char="•"/>
            </a:pPr>
            <a:r>
              <a:rPr lang="en-US" sz="2400" dirty="0"/>
              <a:t>Web developers may not naturally have Python in their skill set.</a:t>
            </a:r>
          </a:p>
          <a:p>
            <a:pPr marL="285750" indent="-285750">
              <a:buFont typeface="Arial" panose="020B0604020202020204" pitchFamily="34" charset="0"/>
              <a:buChar char="•"/>
            </a:pPr>
            <a:r>
              <a:rPr lang="en-US" sz="2400" dirty="0"/>
              <a:t>AI agent -- Autonomous – decision making without constant human intervention </a:t>
            </a:r>
          </a:p>
          <a:p>
            <a:pPr marL="285750" indent="-285750">
              <a:buFont typeface="Arial" panose="020B0604020202020204" pitchFamily="34" charset="0"/>
              <a:buChar char="•"/>
            </a:pPr>
            <a:r>
              <a:rPr lang="en-US" sz="2400" dirty="0" err="1"/>
              <a:t>Langchain</a:t>
            </a:r>
            <a:r>
              <a:rPr lang="en-US" sz="2400" dirty="0"/>
              <a:t> </a:t>
            </a:r>
          </a:p>
          <a:p>
            <a:pPr marL="742950" lvl="1" indent="-285750">
              <a:buFont typeface="Arial" panose="020B0604020202020204" pitchFamily="34" charset="0"/>
              <a:buChar char="•"/>
            </a:pPr>
            <a:r>
              <a:rPr lang="en-US" sz="2400" dirty="0"/>
              <a:t>Framework for chaining LLMs with tools, retrievers, and external data sources.</a:t>
            </a:r>
          </a:p>
          <a:p>
            <a:pPr marL="742950" lvl="1" indent="-285750">
              <a:buFont typeface="Arial" panose="020B0604020202020204" pitchFamily="34" charset="0"/>
              <a:buChar char="•"/>
            </a:pPr>
            <a:r>
              <a:rPr lang="en-US" sz="2400" dirty="0"/>
              <a:t>Help you get a quick start if you are experimenting with different models, RAG pipelines, or prompts</a:t>
            </a:r>
          </a:p>
          <a:p>
            <a:pPr marL="742950" lvl="1" indent="-285750">
              <a:buFont typeface="Arial" panose="020B0604020202020204" pitchFamily="34" charset="0"/>
              <a:buChar char="•"/>
            </a:pPr>
            <a:r>
              <a:rPr lang="en-US" sz="2400" dirty="0"/>
              <a:t>Open source</a:t>
            </a:r>
          </a:p>
          <a:p>
            <a:pPr marL="285750" indent="-285750">
              <a:buFont typeface="Arial" panose="020B0604020202020204" pitchFamily="34" charset="0"/>
              <a:buChar char="•"/>
            </a:pPr>
            <a:endParaRPr lang="en-US" sz="2400" dirty="0"/>
          </a:p>
          <a:p>
            <a:pPr lvl="1"/>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265656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5715E08-146D-0759-2720-E84D70786BC1}"/>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BB1C0603-8047-1EA8-656C-93CC9FF56BB4}"/>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6DAD8027-1835-30F1-2138-FEEFB4294F47}"/>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82989756-ED00-35D0-B232-FF0105CF9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pic>
        <p:nvPicPr>
          <p:cNvPr id="6" name="Picture 5" descr="A screen shot of a diagram&#10;&#10;AI-generated content may be incorrect.">
            <a:extLst>
              <a:ext uri="{FF2B5EF4-FFF2-40B4-BE49-F238E27FC236}">
                <a16:creationId xmlns:a16="http://schemas.microsoft.com/office/drawing/2014/main" id="{AB1ED043-E0F7-A0BF-686C-963F4A77AB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80410" y="572219"/>
            <a:ext cx="3371850" cy="5128493"/>
          </a:xfrm>
          <a:prstGeom prst="rect">
            <a:avLst/>
          </a:prstGeom>
        </p:spPr>
      </p:pic>
    </p:spTree>
    <p:extLst>
      <p:ext uri="{BB962C8B-B14F-4D97-AF65-F5344CB8AC3E}">
        <p14:creationId xmlns:p14="http://schemas.microsoft.com/office/powerpoint/2010/main" val="617095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3AD979-D291-C6E0-0018-322F7C5593A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B6FB9FC-41A7-F398-E00F-7F69A21A47BC}"/>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6E3BB357-C80F-E15E-691E-CF93799EDB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A4DC2371-F633-A65F-5B3F-48DEA4808E67}"/>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DADB1F55-94DC-1F86-EE7E-C4129D461975}"/>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0F8AC9B0-69AF-D805-7C8C-27DF7FC512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sp>
        <p:nvSpPr>
          <p:cNvPr id="5" name="TextBox 4">
            <a:extLst>
              <a:ext uri="{FF2B5EF4-FFF2-40B4-BE49-F238E27FC236}">
                <a16:creationId xmlns:a16="http://schemas.microsoft.com/office/drawing/2014/main" id="{53FCDE56-9058-3BCF-1318-E2500512AD83}"/>
              </a:ext>
            </a:extLst>
          </p:cNvPr>
          <p:cNvSpPr txBox="1"/>
          <p:nvPr/>
        </p:nvSpPr>
        <p:spPr>
          <a:xfrm>
            <a:off x="848243" y="2382894"/>
            <a:ext cx="8720319" cy="1938992"/>
          </a:xfrm>
          <a:prstGeom prst="rect">
            <a:avLst/>
          </a:prstGeom>
          <a:noFill/>
        </p:spPr>
        <p:txBody>
          <a:bodyPr wrap="square">
            <a:spAutoFit/>
          </a:bodyPr>
          <a:lstStyle/>
          <a:p>
            <a:pPr marL="285750" indent="-285750">
              <a:buFont typeface="Arial" panose="020B0604020202020204" pitchFamily="34" charset="0"/>
              <a:buChar char="•"/>
            </a:pPr>
            <a:r>
              <a:rPr lang="en-US" sz="2400" dirty="0"/>
              <a:t>Langgraph – </a:t>
            </a:r>
          </a:p>
          <a:p>
            <a:pPr marL="742950" lvl="1" indent="-285750">
              <a:buFont typeface="Arial" panose="020B0604020202020204" pitchFamily="34" charset="0"/>
              <a:buChar char="•"/>
            </a:pPr>
            <a:r>
              <a:rPr lang="en-US" sz="2400" dirty="0"/>
              <a:t>framework built on top of </a:t>
            </a:r>
            <a:r>
              <a:rPr lang="en-US" sz="2400" dirty="0" err="1"/>
              <a:t>Langchain</a:t>
            </a:r>
            <a:r>
              <a:rPr lang="en-US" sz="2400" dirty="0"/>
              <a:t>.  </a:t>
            </a:r>
          </a:p>
          <a:p>
            <a:pPr marL="742950" lvl="1" indent="-285750">
              <a:buFont typeface="Arial" panose="020B0604020202020204" pitchFamily="34" charset="0"/>
              <a:buChar char="•"/>
            </a:pPr>
            <a:r>
              <a:rPr lang="en-US" sz="2400" dirty="0"/>
              <a:t>Can handle more complex tasks.  </a:t>
            </a:r>
          </a:p>
          <a:p>
            <a:pPr marL="742950" lvl="1" indent="-285750">
              <a:buFont typeface="Arial" panose="020B0604020202020204" pitchFamily="34" charset="0"/>
              <a:buChar char="•"/>
            </a:pPr>
            <a:r>
              <a:rPr lang="en-US" sz="2400" dirty="0"/>
              <a:t>Creating AI agents/Compound AI systems.  The agent can have multiple agents.</a:t>
            </a:r>
          </a:p>
        </p:txBody>
      </p:sp>
    </p:spTree>
    <p:extLst>
      <p:ext uri="{BB962C8B-B14F-4D97-AF65-F5344CB8AC3E}">
        <p14:creationId xmlns:p14="http://schemas.microsoft.com/office/powerpoint/2010/main" val="239940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FD67FA-C9E9-EAFB-3980-30E221506422}"/>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0C41B0B5-3BF7-9D89-7BEC-B020EA0AF5D0}"/>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FF992BFA-5C5F-D1A8-B28A-78EBC7502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8BBA0FBA-B140-55C5-D63B-79064F0753E4}"/>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9AE29C78-1586-A053-C40B-328CB4F18DDE}"/>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4FD16986-346B-9E3F-7313-4098C9C4CA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pic>
        <p:nvPicPr>
          <p:cNvPr id="6" name="Picture 5" descr="A diagram of a process&#10;&#10;AI-generated content may be incorrect.">
            <a:extLst>
              <a:ext uri="{FF2B5EF4-FFF2-40B4-BE49-F238E27FC236}">
                <a16:creationId xmlns:a16="http://schemas.microsoft.com/office/drawing/2014/main" id="{55B64CD9-79C8-5AA8-4C11-D562CFAFF0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2170" y="100939"/>
            <a:ext cx="7467600" cy="6210300"/>
          </a:xfrm>
          <a:prstGeom prst="rect">
            <a:avLst/>
          </a:prstGeom>
        </p:spPr>
      </p:pic>
    </p:spTree>
    <p:extLst>
      <p:ext uri="{BB962C8B-B14F-4D97-AF65-F5344CB8AC3E}">
        <p14:creationId xmlns:p14="http://schemas.microsoft.com/office/powerpoint/2010/main" val="1892020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5715E08-146D-0759-2720-E84D70786BC1}"/>
              </a:ext>
            </a:extLst>
          </p:cNvPr>
          <p:cNvPicPr>
            <a:picLocks noChangeAspect="1"/>
          </p:cNvPicPr>
          <p:nvPr/>
        </p:nvPicPr>
        <p:blipFill>
          <a:blip r:embed="rId2"/>
          <a:stretch>
            <a:fillRect/>
          </a:stretch>
        </p:blipFill>
        <p:spPr>
          <a:xfrm>
            <a:off x="0" y="0"/>
            <a:ext cx="12188952" cy="6864271"/>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BB1C0603-8047-1EA8-656C-93CC9FF56BB4}"/>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6DAD8027-1835-30F1-2138-FEEFB4294F47}"/>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82989756-ED00-35D0-B232-FF0105CF9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sp>
        <p:nvSpPr>
          <p:cNvPr id="5" name="TextBox 4">
            <a:extLst>
              <a:ext uri="{FF2B5EF4-FFF2-40B4-BE49-F238E27FC236}">
                <a16:creationId xmlns:a16="http://schemas.microsoft.com/office/drawing/2014/main" id="{DCB20D65-07BD-84FD-DA08-461974F5EDE8}"/>
              </a:ext>
            </a:extLst>
          </p:cNvPr>
          <p:cNvSpPr txBox="1"/>
          <p:nvPr/>
        </p:nvSpPr>
        <p:spPr>
          <a:xfrm>
            <a:off x="506437" y="572220"/>
            <a:ext cx="9924442" cy="7017306"/>
          </a:xfrm>
          <a:prstGeom prst="rect">
            <a:avLst/>
          </a:prstGeom>
          <a:noFill/>
        </p:spPr>
        <p:txBody>
          <a:bodyPr wrap="square" rtlCol="0">
            <a:spAutoFit/>
          </a:bodyPr>
          <a:lstStyle/>
          <a:p>
            <a:pPr marL="285750" indent="-285750">
              <a:buFont typeface="Arial" panose="020B0604020202020204" pitchFamily="34" charset="0"/>
              <a:buChar char="•"/>
            </a:pPr>
            <a:r>
              <a:rPr lang="en-US" sz="2400" dirty="0"/>
              <a:t>LLM (Large Language Model)</a:t>
            </a:r>
          </a:p>
          <a:p>
            <a:pPr marL="742950" lvl="1" indent="-285750">
              <a:buFont typeface="Arial" panose="020B0604020202020204" pitchFamily="34" charset="0"/>
              <a:buChar char="•"/>
            </a:pPr>
            <a:r>
              <a:rPr lang="en-US" sz="2400" dirty="0"/>
              <a:t>Regardless how frequently it is trained, at any given moment, the data is not available from the time it was last trained to the time that you are using the LLM.</a:t>
            </a:r>
          </a:p>
          <a:p>
            <a:pPr marL="742950" lvl="1" indent="-285750">
              <a:buFont typeface="Arial" panose="020B0604020202020204" pitchFamily="34" charset="0"/>
              <a:buChar char="•"/>
            </a:pPr>
            <a:r>
              <a:rPr lang="en-US" sz="2400" dirty="0"/>
              <a:t>It ONLY knows the data being trained on.  It has no idea what YOUR data is.</a:t>
            </a:r>
          </a:p>
          <a:p>
            <a:pPr marL="742950" lvl="1" indent="-285750">
              <a:buFont typeface="Arial" panose="020B0604020202020204" pitchFamily="34" charset="0"/>
              <a:buChar char="•"/>
            </a:pPr>
            <a:r>
              <a:rPr lang="en-US" sz="2400" dirty="0"/>
              <a:t>Hallucination often comes when an LLM does not have enough information or does not have the necessary data to return the correct information.  </a:t>
            </a:r>
          </a:p>
          <a:p>
            <a:pPr marL="742950" lvl="1" indent="-285750">
              <a:buFont typeface="Arial" panose="020B0604020202020204" pitchFamily="34" charset="0"/>
              <a:buChar char="•"/>
            </a:pPr>
            <a:r>
              <a:rPr lang="en-US" sz="2400" dirty="0"/>
              <a:t>RAG – Retrieval-Augmented Generation can help reduce the hallucination.  It is often done by referencing an authoritative knowledge base outside of its training data sources before generating a response (using a vector database, calling API, …etc.)</a:t>
            </a:r>
          </a:p>
          <a:p>
            <a:pPr marL="742950" lvl="1" indent="-285750">
              <a:buFont typeface="Arial" panose="020B0604020202020204" pitchFamily="34" charset="0"/>
              <a:buChar char="•"/>
            </a:pPr>
            <a:endParaRPr lang="en-US" sz="2400" dirty="0"/>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lvl="1"/>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539724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271EDA-AB06-0750-3575-5B3BD790EAC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18F34199-76AA-C835-88BD-1CD373F3B253}"/>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D5B1F12A-F347-B7A2-FED7-391D9E503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086961D3-9B32-76EF-6CF0-597EEE743D68}"/>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70DC3DC2-5AE0-B54D-324A-1A0E7DEC5939}"/>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274DBB92-A6E7-F160-C7BD-FBCADD611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sp>
        <p:nvSpPr>
          <p:cNvPr id="4" name="TextBox 3">
            <a:extLst>
              <a:ext uri="{FF2B5EF4-FFF2-40B4-BE49-F238E27FC236}">
                <a16:creationId xmlns:a16="http://schemas.microsoft.com/office/drawing/2014/main" id="{7F0322EF-2F09-5E8D-C4D5-D9FA22769218}"/>
              </a:ext>
            </a:extLst>
          </p:cNvPr>
          <p:cNvSpPr txBox="1"/>
          <p:nvPr/>
        </p:nvSpPr>
        <p:spPr>
          <a:xfrm>
            <a:off x="511629" y="304800"/>
            <a:ext cx="10994571" cy="4524315"/>
          </a:xfrm>
          <a:prstGeom prst="rect">
            <a:avLst/>
          </a:prstGeom>
          <a:noFill/>
        </p:spPr>
        <p:txBody>
          <a:bodyPr wrap="square" rtlCol="0">
            <a:spAutoFit/>
          </a:bodyPr>
          <a:lstStyle/>
          <a:p>
            <a:r>
              <a:rPr lang="en-US" sz="3200" dirty="0"/>
              <a:t>What you need for this example?</a:t>
            </a:r>
          </a:p>
          <a:p>
            <a:endParaRPr lang="en-US" sz="3200" dirty="0"/>
          </a:p>
          <a:p>
            <a:pPr marL="457200" indent="-457200">
              <a:buFontTx/>
              <a:buChar char="-"/>
            </a:pPr>
            <a:r>
              <a:rPr lang="en-US" sz="3200" dirty="0"/>
              <a:t>Node.js and </a:t>
            </a:r>
            <a:r>
              <a:rPr lang="en-US" sz="3200" dirty="0" err="1"/>
              <a:t>npm</a:t>
            </a:r>
            <a:endParaRPr lang="en-US" sz="3200" dirty="0"/>
          </a:p>
          <a:p>
            <a:pPr marL="457200" indent="-457200">
              <a:buFontTx/>
              <a:buChar char="-"/>
            </a:pPr>
            <a:r>
              <a:rPr lang="en-US" sz="3200" dirty="0"/>
              <a:t>Vector DB – MongoDB Atlas </a:t>
            </a:r>
          </a:p>
          <a:p>
            <a:pPr marL="457200" indent="-457200">
              <a:buFontTx/>
              <a:buChar char="-"/>
            </a:pPr>
            <a:r>
              <a:rPr lang="en-US" sz="3200" dirty="0">
                <a:hlinkClick r:id="rId4"/>
              </a:rPr>
              <a:t>https://docs.langchain.com/oss/javascript/integrations/vectorstores</a:t>
            </a:r>
            <a:endParaRPr lang="en-US" sz="3200"/>
          </a:p>
          <a:p>
            <a:pPr marL="457200" indent="-457200">
              <a:buFontTx/>
              <a:buChar char="-"/>
            </a:pPr>
            <a:r>
              <a:rPr lang="en-US" sz="3200"/>
              <a:t>OpenAI </a:t>
            </a:r>
            <a:r>
              <a:rPr lang="en-US" sz="3200" dirty="0"/>
              <a:t>API Key</a:t>
            </a:r>
          </a:p>
          <a:p>
            <a:pPr marL="457200" indent="-457200">
              <a:buFontTx/>
              <a:buChar char="-"/>
            </a:pPr>
            <a:r>
              <a:rPr lang="en-US" sz="3200" dirty="0"/>
              <a:t>Anthropic API Key</a:t>
            </a:r>
          </a:p>
          <a:p>
            <a:pPr marL="457200" indent="-457200">
              <a:buFontTx/>
              <a:buChar char="-"/>
            </a:pPr>
            <a:r>
              <a:rPr lang="en-US" sz="3200" dirty="0"/>
              <a:t>ColdFusion</a:t>
            </a:r>
          </a:p>
        </p:txBody>
      </p:sp>
    </p:spTree>
    <p:extLst>
      <p:ext uri="{BB962C8B-B14F-4D97-AF65-F5344CB8AC3E}">
        <p14:creationId xmlns:p14="http://schemas.microsoft.com/office/powerpoint/2010/main" val="4247225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3AE13D-DC7C-A6E7-49CE-49DFC84CAF57}"/>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6EDA4CDA-63B4-441F-51B2-4C2C247323E3}"/>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E7BB5297-5F38-5554-7412-59151E3C0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E432309F-325D-E57D-AF1A-BC2C3DE02E80}"/>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2A2ACB0D-7908-A7B7-796F-2354A8581E16}"/>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0C2C7032-B81A-9AC1-997D-F6EB992F2B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sp>
        <p:nvSpPr>
          <p:cNvPr id="4" name="TextBox 3">
            <a:extLst>
              <a:ext uri="{FF2B5EF4-FFF2-40B4-BE49-F238E27FC236}">
                <a16:creationId xmlns:a16="http://schemas.microsoft.com/office/drawing/2014/main" id="{683D24EE-CEA3-7276-F7AF-690D55251063}"/>
              </a:ext>
            </a:extLst>
          </p:cNvPr>
          <p:cNvSpPr txBox="1"/>
          <p:nvPr/>
        </p:nvSpPr>
        <p:spPr>
          <a:xfrm>
            <a:off x="511629" y="304800"/>
            <a:ext cx="10994571" cy="6001643"/>
          </a:xfrm>
          <a:prstGeom prst="rect">
            <a:avLst/>
          </a:prstGeom>
          <a:noFill/>
        </p:spPr>
        <p:txBody>
          <a:bodyPr wrap="square" rtlCol="0">
            <a:spAutoFit/>
          </a:bodyPr>
          <a:lstStyle/>
          <a:p>
            <a:r>
              <a:rPr lang="en-US" sz="3200" dirty="0" err="1"/>
              <a:t>npm</a:t>
            </a:r>
            <a:r>
              <a:rPr lang="en-US" sz="3200" dirty="0"/>
              <a:t> </a:t>
            </a:r>
            <a:r>
              <a:rPr lang="en-US" sz="3200" dirty="0" err="1"/>
              <a:t>init</a:t>
            </a:r>
            <a:r>
              <a:rPr lang="en-US" sz="3200" dirty="0"/>
              <a:t> -y</a:t>
            </a:r>
            <a:br>
              <a:rPr lang="en-US" sz="3200" dirty="0"/>
            </a:br>
            <a:br>
              <a:rPr lang="en-US" sz="3200" dirty="0"/>
            </a:br>
            <a:r>
              <a:rPr lang="en-US" sz="3200" dirty="0" err="1"/>
              <a:t>npm</a:t>
            </a:r>
            <a:r>
              <a:rPr lang="en-US" sz="3200" dirty="0"/>
              <a:t> </a:t>
            </a:r>
            <a:r>
              <a:rPr lang="en-US" sz="3200" dirty="0" err="1"/>
              <a:t>i</a:t>
            </a:r>
            <a:r>
              <a:rPr lang="en-US" sz="3200" dirty="0"/>
              <a:t> -D typescript </a:t>
            </a:r>
            <a:r>
              <a:rPr lang="en-US" sz="3200" dirty="0" err="1"/>
              <a:t>ts</a:t>
            </a:r>
            <a:r>
              <a:rPr lang="en-US" sz="3200" dirty="0"/>
              <a:t>-node @types/express @types/node</a:t>
            </a:r>
            <a:br>
              <a:rPr lang="en-US" sz="3200" dirty="0"/>
            </a:br>
            <a:br>
              <a:rPr lang="en-US" sz="3200" dirty="0"/>
            </a:br>
            <a:r>
              <a:rPr lang="en-US" sz="3200" dirty="0" err="1"/>
              <a:t>npx</a:t>
            </a:r>
            <a:r>
              <a:rPr lang="en-US" sz="3200" dirty="0"/>
              <a:t> </a:t>
            </a:r>
            <a:r>
              <a:rPr lang="en-US" sz="3200" dirty="0" err="1"/>
              <a:t>tsc</a:t>
            </a:r>
            <a:r>
              <a:rPr lang="en-US" sz="3200" dirty="0"/>
              <a:t> --</a:t>
            </a:r>
            <a:r>
              <a:rPr lang="en-US" sz="3200" dirty="0" err="1"/>
              <a:t>init</a:t>
            </a:r>
            <a:br>
              <a:rPr lang="en-US" sz="3200" dirty="0"/>
            </a:br>
            <a:br>
              <a:rPr lang="en-US" sz="3200" dirty="0"/>
            </a:br>
            <a:r>
              <a:rPr lang="en-US" sz="3200" dirty="0" err="1"/>
              <a:t>npm</a:t>
            </a:r>
            <a:r>
              <a:rPr lang="en-US" sz="3200" dirty="0"/>
              <a:t> install </a:t>
            </a:r>
            <a:r>
              <a:rPr lang="en-US" sz="3200" dirty="0" err="1"/>
              <a:t>langchain</a:t>
            </a:r>
            <a:r>
              <a:rPr lang="en-US" sz="3200" dirty="0"/>
              <a:t> @</a:t>
            </a:r>
            <a:r>
              <a:rPr lang="en-US" sz="3200" dirty="0" err="1"/>
              <a:t>langchain</a:t>
            </a:r>
            <a:r>
              <a:rPr lang="en-US" sz="3200" dirty="0"/>
              <a:t>/</a:t>
            </a:r>
            <a:r>
              <a:rPr lang="en-US" sz="3200" dirty="0" err="1"/>
              <a:t>langgraph</a:t>
            </a:r>
            <a:r>
              <a:rPr lang="en-US" sz="3200" dirty="0"/>
              <a:t> @</a:t>
            </a:r>
            <a:r>
              <a:rPr lang="en-US" sz="3200" dirty="0" err="1"/>
              <a:t>langchain</a:t>
            </a:r>
            <a:r>
              <a:rPr lang="en-US" sz="3200" dirty="0"/>
              <a:t>/</a:t>
            </a:r>
            <a:r>
              <a:rPr lang="en-US" sz="3200" dirty="0" err="1"/>
              <a:t>mongodb</a:t>
            </a:r>
            <a:r>
              <a:rPr lang="en-US" sz="3200" dirty="0"/>
              <a:t> @</a:t>
            </a:r>
            <a:r>
              <a:rPr lang="en-US" sz="3200" dirty="0" err="1"/>
              <a:t>langchain</a:t>
            </a:r>
            <a:r>
              <a:rPr lang="en-US" sz="3200" dirty="0"/>
              <a:t>/</a:t>
            </a:r>
            <a:r>
              <a:rPr lang="en-US" sz="3200" dirty="0" err="1"/>
              <a:t>langgraph</a:t>
            </a:r>
            <a:r>
              <a:rPr lang="en-US" sz="3200" dirty="0"/>
              <a:t>-checkpoint-</a:t>
            </a:r>
            <a:r>
              <a:rPr lang="en-US" sz="3200" dirty="0" err="1"/>
              <a:t>mongodb</a:t>
            </a:r>
            <a:r>
              <a:rPr lang="en-US" sz="3200" dirty="0"/>
              <a:t> @</a:t>
            </a:r>
            <a:r>
              <a:rPr lang="en-US" sz="3200" dirty="0" err="1"/>
              <a:t>langchain</a:t>
            </a:r>
            <a:r>
              <a:rPr lang="en-US" sz="3200" dirty="0"/>
              <a:t>/anthropic </a:t>
            </a:r>
            <a:r>
              <a:rPr lang="en-US" sz="3200" dirty="0" err="1"/>
              <a:t>dotenv</a:t>
            </a:r>
            <a:r>
              <a:rPr lang="en-US" sz="3200" dirty="0"/>
              <a:t> express </a:t>
            </a:r>
            <a:r>
              <a:rPr lang="en-US" sz="3200" dirty="0" err="1"/>
              <a:t>mongodb</a:t>
            </a:r>
            <a:r>
              <a:rPr lang="en-US" sz="3200" dirty="0"/>
              <a:t> </a:t>
            </a:r>
            <a:r>
              <a:rPr lang="en-US" sz="3200" dirty="0" err="1"/>
              <a:t>zod</a:t>
            </a:r>
            <a:br>
              <a:rPr lang="en-US" sz="3200" dirty="0"/>
            </a:br>
            <a:endParaRPr lang="en-US" sz="3200" dirty="0"/>
          </a:p>
          <a:p>
            <a:br>
              <a:rPr lang="en-US" sz="3200" dirty="0"/>
            </a:br>
            <a:endParaRPr lang="en-US" sz="3200" dirty="0"/>
          </a:p>
        </p:txBody>
      </p:sp>
    </p:spTree>
    <p:extLst>
      <p:ext uri="{BB962C8B-B14F-4D97-AF65-F5344CB8AC3E}">
        <p14:creationId xmlns:p14="http://schemas.microsoft.com/office/powerpoint/2010/main" val="3174228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52F01A-4659-76DA-160B-1D24F67B538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32EDD63D-255C-497C-6112-E4D16410CC49}"/>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203B3D27-F656-D90B-6D9C-449850D06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0B87ED49-30DB-1AE9-E2FE-A05AA3B60278}"/>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09A801EE-CBA4-8A52-EB45-18543994CD57}"/>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672BF0FB-B8D0-36FA-A1E3-AE1DAAC3BB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pic>
        <p:nvPicPr>
          <p:cNvPr id="5" name="Picture 4" descr="A person playing a guitar&#10;&#10;AI-generated content may be incorrect.">
            <a:extLst>
              <a:ext uri="{FF2B5EF4-FFF2-40B4-BE49-F238E27FC236}">
                <a16:creationId xmlns:a16="http://schemas.microsoft.com/office/drawing/2014/main" id="{24DDEA16-D769-C761-27F4-05F4C413C4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0400" y="1098550"/>
            <a:ext cx="3251200" cy="4660900"/>
          </a:xfrm>
          <a:prstGeom prst="rect">
            <a:avLst/>
          </a:prstGeom>
        </p:spPr>
      </p:pic>
    </p:spTree>
    <p:extLst>
      <p:ext uri="{BB962C8B-B14F-4D97-AF65-F5344CB8AC3E}">
        <p14:creationId xmlns:p14="http://schemas.microsoft.com/office/powerpoint/2010/main" val="3211448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5A8768-2E41-F0BA-463F-5301A121495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E8E9A1A-5F9E-1250-02B0-B618C7C7B710}"/>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7729ADA2-32C7-98E0-DA3E-A3B140009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586667C7-AE42-2576-BF12-1ABC5E257447}"/>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90D1FAC3-6F62-056D-7841-D7D93F6A59FB}"/>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B98BA1E0-6580-1311-08E7-3586346620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pic>
        <p:nvPicPr>
          <p:cNvPr id="6" name="Picture 5" descr="A diagram of a software system&#10;&#10;AI-generated content may be incorrect.">
            <a:extLst>
              <a:ext uri="{FF2B5EF4-FFF2-40B4-BE49-F238E27FC236}">
                <a16:creationId xmlns:a16="http://schemas.microsoft.com/office/drawing/2014/main" id="{CBB57EAF-72B6-0BA6-8101-91A248DA25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8150" y="736600"/>
            <a:ext cx="6235700" cy="5384800"/>
          </a:xfrm>
          <a:prstGeom prst="rect">
            <a:avLst/>
          </a:prstGeom>
        </p:spPr>
      </p:pic>
    </p:spTree>
    <p:extLst>
      <p:ext uri="{BB962C8B-B14F-4D97-AF65-F5344CB8AC3E}">
        <p14:creationId xmlns:p14="http://schemas.microsoft.com/office/powerpoint/2010/main" val="2564789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5715E08-146D-0759-2720-E84D70786BC1}"/>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BB1C0603-8047-1EA8-656C-93CC9FF56BB4}"/>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Omaha, NE</a:t>
            </a:r>
          </a:p>
        </p:txBody>
      </p:sp>
      <p:sp>
        <p:nvSpPr>
          <p:cNvPr id="2" name="Freeform: Shape 1">
            <a:extLst>
              <a:ext uri="{FF2B5EF4-FFF2-40B4-BE49-F238E27FC236}">
                <a16:creationId xmlns:a16="http://schemas.microsoft.com/office/drawing/2014/main" id="{6DAD8027-1835-30F1-2138-FEEFB4294F47}"/>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with a black background&#10;&#10;Description automatically generated">
            <a:extLst>
              <a:ext uri="{FF2B5EF4-FFF2-40B4-BE49-F238E27FC236}">
                <a16:creationId xmlns:a16="http://schemas.microsoft.com/office/drawing/2014/main" id="{82989756-ED00-35D0-B232-FF0105CF9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8" y="5541794"/>
            <a:ext cx="2462226" cy="1538891"/>
          </a:xfrm>
          <a:prstGeom prst="rect">
            <a:avLst/>
          </a:prstGeom>
        </p:spPr>
      </p:pic>
      <p:sp>
        <p:nvSpPr>
          <p:cNvPr id="4" name="TextBox 3">
            <a:extLst>
              <a:ext uri="{FF2B5EF4-FFF2-40B4-BE49-F238E27FC236}">
                <a16:creationId xmlns:a16="http://schemas.microsoft.com/office/drawing/2014/main" id="{68A6EC65-0A3C-8DFE-7442-E2535AF0DC9A}"/>
              </a:ext>
            </a:extLst>
          </p:cNvPr>
          <p:cNvSpPr txBox="1"/>
          <p:nvPr/>
        </p:nvSpPr>
        <p:spPr>
          <a:xfrm>
            <a:off x="849086" y="572220"/>
            <a:ext cx="10657114" cy="7478970"/>
          </a:xfrm>
          <a:prstGeom prst="rect">
            <a:avLst/>
          </a:prstGeom>
          <a:noFill/>
        </p:spPr>
        <p:txBody>
          <a:bodyPr wrap="square" rtlCol="0">
            <a:spAutoFit/>
          </a:bodyPr>
          <a:lstStyle/>
          <a:p>
            <a:r>
              <a:rPr lang="en-US" sz="3200" dirty="0"/>
              <a:t>Resources</a:t>
            </a:r>
          </a:p>
          <a:p>
            <a:endParaRPr lang="en-US" sz="3200" dirty="0"/>
          </a:p>
          <a:p>
            <a:r>
              <a:rPr lang="en-US" sz="3200" dirty="0"/>
              <a:t>Langgraph Studio: </a:t>
            </a:r>
            <a:r>
              <a:rPr lang="en-US" sz="3200" dirty="0">
                <a:hlinkClick r:id="rId4"/>
              </a:rPr>
              <a:t>https://docs.langchain.com/langgraph-platform/quick-start-studio</a:t>
            </a:r>
            <a:endParaRPr lang="en-US" sz="3200" dirty="0"/>
          </a:p>
          <a:p>
            <a:r>
              <a:rPr lang="en-US" sz="3200" dirty="0" err="1"/>
              <a:t>Langchain</a:t>
            </a:r>
            <a:r>
              <a:rPr lang="en-US" sz="3200" dirty="0"/>
              <a:t>: </a:t>
            </a:r>
            <a:r>
              <a:rPr lang="en-US" sz="3200" dirty="0">
                <a:hlinkClick r:id="rId5"/>
              </a:rPr>
              <a:t>https://www.langchain.com/</a:t>
            </a:r>
            <a:endParaRPr lang="en-US" sz="3200" dirty="0"/>
          </a:p>
          <a:p>
            <a:r>
              <a:rPr lang="en-US" sz="3200" dirty="0"/>
              <a:t>MongoDB: </a:t>
            </a:r>
            <a:r>
              <a:rPr lang="en-US" sz="3200" dirty="0">
                <a:hlinkClick r:id="rId6"/>
              </a:rPr>
              <a:t>https://www.mongodb.com/</a:t>
            </a:r>
            <a:endParaRPr lang="en-US" sz="3200" dirty="0"/>
          </a:p>
          <a:p>
            <a:r>
              <a:rPr lang="en-US" sz="3200" dirty="0" err="1"/>
              <a:t>LanggraphJS</a:t>
            </a:r>
            <a:r>
              <a:rPr lang="en-US" sz="3200" dirty="0"/>
              <a:t>: </a:t>
            </a:r>
            <a:r>
              <a:rPr lang="en-US" sz="3200" dirty="0">
                <a:hlinkClick r:id="rId7"/>
              </a:rPr>
              <a:t>https://langchain-ai.github.io/langgraphjs/</a:t>
            </a:r>
            <a:endParaRPr lang="en-US" sz="3200" dirty="0"/>
          </a:p>
          <a:p>
            <a:r>
              <a:rPr lang="en-US" sz="3200" dirty="0"/>
              <a:t>Vector Stores: </a:t>
            </a:r>
            <a:r>
              <a:rPr lang="en-US" sz="3200" dirty="0">
                <a:hlinkClick r:id="rId8"/>
              </a:rPr>
              <a:t>https://docs.langchain.com/oss/javascript/integrations/vectorstores#mongodb</a:t>
            </a:r>
            <a:endParaRPr lang="en-US" sz="3200" dirty="0"/>
          </a:p>
          <a:p>
            <a:endParaRPr lang="en-US" sz="3200" dirty="0"/>
          </a:p>
          <a:p>
            <a:endParaRPr lang="en-US" sz="3200" dirty="0"/>
          </a:p>
          <a:p>
            <a:endParaRPr lang="en-US" sz="3200" dirty="0"/>
          </a:p>
          <a:p>
            <a:endParaRPr lang="en-US" sz="3200" dirty="0"/>
          </a:p>
          <a:p>
            <a:endParaRPr lang="en-US" sz="3200" dirty="0">
              <a:solidFill>
                <a:srgbClr val="FF0000"/>
              </a:solidFill>
            </a:endParaRPr>
          </a:p>
        </p:txBody>
      </p:sp>
    </p:spTree>
    <p:extLst>
      <p:ext uri="{BB962C8B-B14F-4D97-AF65-F5344CB8AC3E}">
        <p14:creationId xmlns:p14="http://schemas.microsoft.com/office/powerpoint/2010/main" val="1971809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background with hexagons&#10;&#10;Description automatically generated">
            <a:extLst>
              <a:ext uri="{FF2B5EF4-FFF2-40B4-BE49-F238E27FC236}">
                <a16:creationId xmlns:a16="http://schemas.microsoft.com/office/drawing/2014/main" id="{57167341-08E4-3FAE-09CA-8A71930D4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2001" cy="6857612"/>
          </a:xfrm>
          <a:prstGeom prst="rect">
            <a:avLst/>
          </a:prstGeom>
        </p:spPr>
      </p:pic>
      <p:pic>
        <p:nvPicPr>
          <p:cNvPr id="7" name="Picture 6" descr="A logo with a black background&#10;&#10;Description automatically generated">
            <a:extLst>
              <a:ext uri="{FF2B5EF4-FFF2-40B4-BE49-F238E27FC236}">
                <a16:creationId xmlns:a16="http://schemas.microsoft.com/office/drawing/2014/main" id="{A2D35E13-70EC-569F-C463-6419605AD9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9968"/>
            <a:ext cx="4102217" cy="2563886"/>
          </a:xfrm>
          <a:prstGeom prst="rect">
            <a:avLst/>
          </a:prstGeom>
        </p:spPr>
      </p:pic>
      <p:sp>
        <p:nvSpPr>
          <p:cNvPr id="2" name="TextBox 1">
            <a:extLst>
              <a:ext uri="{FF2B5EF4-FFF2-40B4-BE49-F238E27FC236}">
                <a16:creationId xmlns:a16="http://schemas.microsoft.com/office/drawing/2014/main" id="{AF1FBD9A-BC88-48B5-137F-AC54A2E234E0}"/>
              </a:ext>
            </a:extLst>
          </p:cNvPr>
          <p:cNvSpPr txBox="1"/>
          <p:nvPr/>
        </p:nvSpPr>
        <p:spPr>
          <a:xfrm>
            <a:off x="1542473" y="2844800"/>
            <a:ext cx="9596582" cy="769441"/>
          </a:xfrm>
          <a:prstGeom prst="rect">
            <a:avLst/>
          </a:prstGeom>
          <a:noFill/>
        </p:spPr>
        <p:txBody>
          <a:bodyPr wrap="square" rtlCol="0">
            <a:spAutoFit/>
          </a:bodyPr>
          <a:lstStyle/>
          <a:p>
            <a:pPr algn="ctr"/>
            <a:r>
              <a:rPr lang="en-US" sz="4400" dirty="0">
                <a:solidFill>
                  <a:srgbClr val="002060"/>
                </a:solidFill>
                <a:latin typeface="Roboto Light" panose="02000000000000000000" pitchFamily="2" charset="0"/>
                <a:ea typeface="Roboto Light" panose="02000000000000000000" pitchFamily="2" charset="0"/>
              </a:rPr>
              <a:t>Questions?</a:t>
            </a:r>
          </a:p>
        </p:txBody>
      </p:sp>
      <p:sp>
        <p:nvSpPr>
          <p:cNvPr id="4" name="TextBox 3">
            <a:extLst>
              <a:ext uri="{FF2B5EF4-FFF2-40B4-BE49-F238E27FC236}">
                <a16:creationId xmlns:a16="http://schemas.microsoft.com/office/drawing/2014/main" id="{F702E54B-7D40-F5E7-567B-A3A643F3450B}"/>
              </a:ext>
            </a:extLst>
          </p:cNvPr>
          <p:cNvSpPr txBox="1"/>
          <p:nvPr/>
        </p:nvSpPr>
        <p:spPr>
          <a:xfrm>
            <a:off x="3196294" y="5231035"/>
            <a:ext cx="9596582" cy="523220"/>
          </a:xfrm>
          <a:prstGeom prst="rect">
            <a:avLst/>
          </a:prstGeom>
          <a:noFill/>
        </p:spPr>
        <p:txBody>
          <a:bodyPr wrap="square" rtlCol="0">
            <a:spAutoFit/>
          </a:bodyPr>
          <a:lstStyle/>
          <a:p>
            <a:pPr algn="ctr"/>
            <a:r>
              <a:rPr lang="en-US" sz="2800" dirty="0">
                <a:solidFill>
                  <a:srgbClr val="002060"/>
                </a:solidFill>
                <a:latin typeface="Roboto" panose="02000000000000000000" pitchFamily="2" charset="0"/>
                <a:ea typeface="Roboto" panose="02000000000000000000" pitchFamily="2" charset="0"/>
              </a:rPr>
              <a:t>Presented by: Monte Chan</a:t>
            </a:r>
          </a:p>
        </p:txBody>
      </p:sp>
    </p:spTree>
    <p:extLst>
      <p:ext uri="{BB962C8B-B14F-4D97-AF65-F5344CB8AC3E}">
        <p14:creationId xmlns:p14="http://schemas.microsoft.com/office/powerpoint/2010/main" val="589305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205574</TotalTime>
  <Words>680</Words>
  <Application>Microsoft Macintosh PowerPoint</Application>
  <PresentationFormat>Widescreen</PresentationFormat>
  <Paragraphs>72</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adobe-clean</vt:lpstr>
      <vt:lpstr>DunbarTall</vt:lpstr>
      <vt:lpstr>Arial</vt:lpstr>
      <vt:lpstr>Calibri</vt:lpstr>
      <vt:lpstr>Calibri Light</vt:lpstr>
      <vt:lpstr>Roboto</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Rachel Williams-Rumsey</dc:creator>
  <cp:lastModifiedBy>monte monteandjanicechan.com</cp:lastModifiedBy>
  <cp:revision>58</cp:revision>
  <dcterms:created xsi:type="dcterms:W3CDTF">2023-07-17T19:55:35Z</dcterms:created>
  <dcterms:modified xsi:type="dcterms:W3CDTF">2026-01-28T15:36:21Z</dcterms:modified>
</cp:coreProperties>
</file>